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16256000" cy="9144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20">
          <p15:clr>
            <a:srgbClr val="A4A3A4"/>
          </p15:clr>
        </p15:guide>
        <p15:guide id="2" orient="horz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70" y="67"/>
      </p:cViewPr>
      <p:guideLst>
        <p:guide pos="5120"/>
        <p:guide orient="horz"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cover-terminal" descr="preencoded.png"/>
          <p:cNvPicPr>
            <a:picLocks noChangeAspect="1"/>
          </p:cNvPicPr>
          <p:nvPr/>
        </p:nvPicPr>
        <p:blipFill>
          <a:blip r:embed="rId2"/>
          <a:srcRect l="-69" r="-69"/>
          <a:stretch/>
        </p:blipFill>
        <p:spPr bwMode="auto">
          <a:xfrm flipH="1">
            <a:off x="1168400" y="1955800"/>
            <a:ext cx="4572000" cy="5994400"/>
          </a:xfrm>
          <a:prstGeom prst="rect">
            <a:avLst/>
          </a:prstGeom>
        </p:spPr>
      </p:pic>
      <p:sp>
        <p:nvSpPr>
          <p:cNvPr id="3" name="cover-topline"/>
          <p:cNvSpPr/>
          <p:nvPr/>
        </p:nvSpPr>
        <p:spPr bwMode="auto">
          <a:xfrm>
            <a:off x="762000" y="1968500"/>
            <a:ext cx="14732000" cy="9144"/>
          </a:xfrm>
          <a:prstGeom prst="line">
            <a:avLst/>
          </a:prstGeom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" name="cover-logo" descr="preencoded.png"/>
          <p:cNvPicPr>
            <a:picLocks noChangeAspect="1"/>
          </p:cNvPicPr>
          <p:nvPr/>
        </p:nvPicPr>
        <p:blipFill>
          <a:blip r:embed="rId3"/>
          <a:srcRect l="-16895" r="-16894"/>
          <a:stretch/>
        </p:blipFill>
        <p:spPr bwMode="auto">
          <a:xfrm>
            <a:off x="9271000" y="609600"/>
            <a:ext cx="3937000" cy="1282700"/>
          </a:xfrm>
          <a:prstGeom prst="rect">
            <a:avLst/>
          </a:prstGeom>
        </p:spPr>
      </p:pic>
      <p:sp>
        <p:nvSpPr>
          <p:cNvPr id="5" name="cover-eyebrow"/>
          <p:cNvSpPr/>
          <p:nvPr/>
        </p:nvSpPr>
        <p:spPr bwMode="auto">
          <a:xfrm>
            <a:off x="8001000" y="2641600"/>
            <a:ext cx="6477000" cy="3302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0097A7"/>
                </a:solidFill>
                <a:latin typeface="Inter"/>
                <a:ea typeface="Inter"/>
                <a:cs typeface="Inter"/>
              </a:rPr>
              <a:t>КОММЕРЧЕСКОЕ ПРЕДЛОЖЕНИЕ</a:t>
            </a:r>
            <a:endParaRPr lang="en-US" sz="1500"/>
          </a:p>
        </p:txBody>
      </p:sp>
      <p:sp>
        <p:nvSpPr>
          <p:cNvPr id="6" name="cover-title"/>
          <p:cNvSpPr/>
          <p:nvPr/>
        </p:nvSpPr>
        <p:spPr bwMode="auto">
          <a:xfrm>
            <a:off x="8001000" y="3479800"/>
            <a:ext cx="6667500" cy="1600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5040"/>
              </a:lnSpc>
              <a:buNone/>
              <a:defRPr/>
            </a:pPr>
            <a:r>
              <a:rPr lang="en-US" sz="4800">
                <a:solidFill>
                  <a:srgbClr val="0F172A"/>
                </a:solidFill>
                <a:latin typeface="Inter"/>
                <a:ea typeface="Inter"/>
                <a:cs typeface="Inter"/>
              </a:rPr>
              <a:t>Автоматизированная парковочная система</a:t>
            </a:r>
            <a:endParaRPr lang="en-US" sz="4800"/>
          </a:p>
        </p:txBody>
      </p:sp>
      <p:sp>
        <p:nvSpPr>
          <p:cNvPr id="7" name="cover-equipment-label"/>
          <p:cNvSpPr/>
          <p:nvPr/>
        </p:nvSpPr>
        <p:spPr bwMode="auto">
          <a:xfrm>
            <a:off x="8001000" y="5435600"/>
            <a:ext cx="4572000" cy="2921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ОБОРУДОВАНИЕ</a:t>
            </a:r>
            <a:endParaRPr lang="en-US" sz="1400"/>
          </a:p>
        </p:txBody>
      </p:sp>
      <p:sp>
        <p:nvSpPr>
          <p:cNvPr id="8" name="cover-equipment-name"/>
          <p:cNvSpPr/>
          <p:nvPr/>
        </p:nvSpPr>
        <p:spPr bwMode="auto">
          <a:xfrm>
            <a:off x="8001000" y="5816600"/>
            <a:ext cx="5715000" cy="533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3100">
                <a:solidFill>
                  <a:srgbClr val="0097A7"/>
                </a:solidFill>
                <a:latin typeface="Inter"/>
                <a:ea typeface="Inter"/>
                <a:cs typeface="Inter"/>
              </a:rPr>
              <a:t>НЕЙРОПАРКИНГ</a:t>
            </a:r>
            <a:endParaRPr lang="en-US" sz="3100"/>
          </a:p>
        </p:txBody>
      </p:sp>
      <p:sp>
        <p:nvSpPr>
          <p:cNvPr id="9" name="cover-customer"/>
          <p:cNvSpPr/>
          <p:nvPr/>
        </p:nvSpPr>
        <p:spPr bwMode="auto">
          <a:xfrm>
            <a:off x="8001000" y="6692900"/>
            <a:ext cx="5588000" cy="7747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2860"/>
              </a:lnSpc>
              <a:buNone/>
              <a:defRPr/>
            </a:pPr>
            <a:r>
              <a:rPr lang="en-US" sz="2200" dirty="0" err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Корпорация</a:t>
            </a:r>
            <a:r>
              <a:rPr lang="en-US" sz="2200" dirty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2200" dirty="0" err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Маяк</a:t>
            </a:r>
            <a:r>
              <a:rPr lang="en-US" sz="2200" dirty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2200" dirty="0" err="1">
                <a:solidFill>
                  <a:srgbClr val="0F172A"/>
                </a:solidFill>
                <a:latin typeface="Inter"/>
                <a:ea typeface="Inter"/>
                <a:cs typeface="Inter"/>
              </a:rPr>
              <a:t>Екатеринбург</a:t>
            </a:r>
            <a:endParaRPr lang="en-US" sz="2200" dirty="0"/>
          </a:p>
        </p:txBody>
      </p:sp>
      <p:sp>
        <p:nvSpPr>
          <p:cNvPr id="10" name="cover-date"/>
          <p:cNvSpPr/>
          <p:nvPr/>
        </p:nvSpPr>
        <p:spPr bwMode="auto">
          <a:xfrm>
            <a:off x="8001000" y="7848600"/>
            <a:ext cx="6350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Подготовлено на основании спецификации клиента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 bwMode="auto">
          <a:xfrm>
            <a:off x="762000" y="508000"/>
            <a:ext cx="14732000" cy="9144"/>
          </a:xfrm>
          <a:prstGeom prst="line">
            <a:avLst/>
          </a:prstGeom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itle"/>
          <p:cNvSpPr/>
          <p:nvPr/>
        </p:nvSpPr>
        <p:spPr bwMode="auto">
          <a:xfrm>
            <a:off x="762000" y="965200"/>
            <a:ext cx="9652000" cy="5842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3200">
                <a:solidFill>
                  <a:srgbClr val="0F172A"/>
                </a:solidFill>
                <a:latin typeface="Inter"/>
                <a:ea typeface="Inter"/>
                <a:cs typeface="Inter"/>
              </a:rPr>
              <a:t>Как работает система</a:t>
            </a:r>
            <a:endParaRPr lang="en-US" sz="3200"/>
          </a:p>
        </p:txBody>
      </p:sp>
      <p:sp>
        <p:nvSpPr>
          <p:cNvPr id="4" name="subtitle"/>
          <p:cNvSpPr/>
          <p:nvPr/>
        </p:nvSpPr>
        <p:spPr bwMode="auto">
          <a:xfrm>
            <a:off x="762000" y="1651000"/>
            <a:ext cx="13208000" cy="3937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</a:rPr>
              <a:t>Въезд и выезд связаны сервером АПС, чтобы фиксировать парковочную сессию и управлять проездом без ручной проверки.</a:t>
            </a:r>
            <a:endParaRPr lang="en-US" sz="1800"/>
          </a:p>
        </p:txBody>
      </p:sp>
      <p:sp>
        <p:nvSpPr>
          <p:cNvPr id="5" name="entry-bg"/>
          <p:cNvSpPr/>
          <p:nvPr/>
        </p:nvSpPr>
        <p:spPr bwMode="auto">
          <a:xfrm>
            <a:off x="762000" y="2540000"/>
            <a:ext cx="6921500" cy="4508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entry-icon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17600" y="2921000"/>
            <a:ext cx="431799" cy="431799"/>
          </a:xfrm>
          <a:prstGeom prst="rect">
            <a:avLst/>
          </a:prstGeom>
        </p:spPr>
      </p:pic>
      <p:sp>
        <p:nvSpPr>
          <p:cNvPr id="7" name="entry-title"/>
          <p:cNvSpPr/>
          <p:nvPr/>
        </p:nvSpPr>
        <p:spPr bwMode="auto">
          <a:xfrm>
            <a:off x="1752599" y="2921000"/>
            <a:ext cx="3429000" cy="3810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2200">
                <a:solidFill>
                  <a:srgbClr val="0F172A"/>
                </a:solidFill>
                <a:latin typeface="Inter"/>
                <a:ea typeface="Inter"/>
                <a:cs typeface="Inter"/>
              </a:rPr>
              <a:t>Въезд на парковку</a:t>
            </a:r>
            <a:endParaRPr lang="en-US" sz="2200"/>
          </a:p>
        </p:txBody>
      </p:sp>
      <p:sp>
        <p:nvSpPr>
          <p:cNvPr id="8" name="entry-steps"/>
          <p:cNvSpPr/>
          <p:nvPr/>
        </p:nvSpPr>
        <p:spPr bwMode="auto">
          <a:xfrm>
            <a:off x="1117600" y="3708400"/>
            <a:ext cx="6032500" cy="29845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1830"/>
              </a:lnSpc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1. Обнаружение.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Датчик фиксирует автомобиль перед въездной стойкой и включает её. Это исключает ложные срабатывания.</a:t>
            </a:r>
            <a:endParaRPr lang="en-US" sz="1500"/>
          </a:p>
          <a:p>
            <a:pPr marL="0" indent="0" algn="l">
              <a:lnSpc>
                <a:spcPts val="1830"/>
              </a:lnSpc>
              <a:spcBef>
                <a:spcPts val="800"/>
              </a:spcBef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2. Проезд по номеру.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Камера считывает ГРЗ. Если номер распознан, билет не нужен: въезд проходит быстрее, расход бумаги снижается, а срок службы принтера увеличивается.</a:t>
            </a:r>
            <a:endParaRPr lang="en-US" sz="1500"/>
          </a:p>
          <a:p>
            <a:pPr marL="0" indent="0" algn="l">
              <a:lnSpc>
                <a:spcPts val="1830"/>
              </a:lnSpc>
              <a:spcBef>
                <a:spcPts val="800"/>
              </a:spcBef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3. Резервный сценарий.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Если номер не распознан или водитель разовый посетитель, стойка выдаёт билет. 2D-сканер принимает гостевой QR или ШК-код.</a:t>
            </a:r>
            <a:endParaRPr lang="en-US" sz="1500"/>
          </a:p>
          <a:p>
            <a:pPr marL="0" indent="0" algn="l">
              <a:lnSpc>
                <a:spcPts val="1830"/>
              </a:lnSpc>
              <a:spcBef>
                <a:spcPts val="800"/>
              </a:spcBef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4. Проезд.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Сервер фиксирует сессию и разрешает въезд. Шлагбаум открывается, затем закрывается после пересечения точки контроля.</a:t>
            </a:r>
            <a:endParaRPr lang="en-US" sz="1500"/>
          </a:p>
        </p:txBody>
      </p:sp>
      <p:sp>
        <p:nvSpPr>
          <p:cNvPr id="9" name="exit-bg"/>
          <p:cNvSpPr/>
          <p:nvPr/>
        </p:nvSpPr>
        <p:spPr bwMode="auto">
          <a:xfrm>
            <a:off x="8572500" y="2540000"/>
            <a:ext cx="6921500" cy="450850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exit-icon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928100" y="2921000"/>
            <a:ext cx="431799" cy="431799"/>
          </a:xfrm>
          <a:prstGeom prst="rect">
            <a:avLst/>
          </a:prstGeom>
        </p:spPr>
      </p:pic>
      <p:sp>
        <p:nvSpPr>
          <p:cNvPr id="11" name="exit-title"/>
          <p:cNvSpPr/>
          <p:nvPr/>
        </p:nvSpPr>
        <p:spPr bwMode="auto">
          <a:xfrm>
            <a:off x="9563100" y="2921000"/>
            <a:ext cx="3429000" cy="3810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2200">
                <a:solidFill>
                  <a:srgbClr val="0F172A"/>
                </a:solidFill>
                <a:latin typeface="Inter"/>
                <a:ea typeface="Inter"/>
                <a:cs typeface="Inter"/>
              </a:rPr>
              <a:t>Выезд с парковки</a:t>
            </a:r>
            <a:endParaRPr lang="en-US" sz="2200"/>
          </a:p>
        </p:txBody>
      </p:sp>
      <p:sp>
        <p:nvSpPr>
          <p:cNvPr id="12" name="exit-steps"/>
          <p:cNvSpPr/>
          <p:nvPr/>
        </p:nvSpPr>
        <p:spPr bwMode="auto">
          <a:xfrm>
            <a:off x="8928100" y="3708400"/>
            <a:ext cx="6032500" cy="29845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1830"/>
              </a:lnSpc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1. Идентификация.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Камера сверяет ГРЗ, а сканер считывает билет, если он использовался на въезде. Система находит парковочную сессию.</a:t>
            </a:r>
            <a:endParaRPr lang="en-US" sz="1500"/>
          </a:p>
          <a:p>
            <a:pPr marL="0" indent="0" algn="l">
              <a:lnSpc>
                <a:spcPts val="1830"/>
              </a:lnSpc>
              <a:spcBef>
                <a:spcPts val="800"/>
              </a:spcBef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2. Оплата.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При необходимости на выездной стойке доступна безналичная оплата. Программное обеспечение связывает её подтверждение с сессией.</a:t>
            </a:r>
            <a:endParaRPr lang="en-US" sz="1500"/>
          </a:p>
          <a:p>
            <a:pPr marL="0" indent="0" algn="l">
              <a:lnSpc>
                <a:spcPts val="1830"/>
              </a:lnSpc>
              <a:spcBef>
                <a:spcPts val="800"/>
              </a:spcBef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3. Разрешение проезда.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Система проверяет условия завершения сессии и передаёт команду на открытие шлагбаума.</a:t>
            </a:r>
            <a:endParaRPr lang="en-US" sz="1500"/>
          </a:p>
          <a:p>
            <a:pPr marL="0" indent="0" algn="l">
              <a:lnSpc>
                <a:spcPts val="1830"/>
              </a:lnSpc>
              <a:spcBef>
                <a:spcPts val="800"/>
              </a:spcBef>
              <a:buNone/>
              <a:defRPr/>
            </a:pPr>
            <a:r>
              <a:rPr lang="en-US" sz="1500" b="1">
                <a:solidFill>
                  <a:srgbClr val="0097A7"/>
                </a:solidFill>
                <a:latin typeface="Inter"/>
                <a:ea typeface="Inter"/>
                <a:cs typeface="Inter"/>
              </a:rPr>
              <a:t>4. Завершение.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</a:rPr>
              <a:t> После пересечения точки контроля шлагбаум закрывается, а сессия завершается. Каждый проезд остаётся учтённым.</a:t>
            </a:r>
            <a:endParaRPr lang="en-US" sz="1500"/>
          </a:p>
        </p:txBody>
      </p:sp>
      <p:sp>
        <p:nvSpPr>
          <p:cNvPr id="13" name="note-line"/>
          <p:cNvSpPr/>
          <p:nvPr/>
        </p:nvSpPr>
        <p:spPr bwMode="auto">
          <a:xfrm>
            <a:off x="762000" y="72390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note"/>
          <p:cNvSpPr/>
          <p:nvPr/>
        </p:nvSpPr>
        <p:spPr bwMode="auto">
          <a:xfrm>
            <a:off x="762000" y="7493000"/>
            <a:ext cx="13843000" cy="330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Распознавание номера не отменяет билетный сценарий: оно делает его резервным и оставляет удобный путь для каждого посетителя.</a:t>
            </a:r>
            <a:endParaRPr lang="en-US" sz="1400"/>
          </a:p>
        </p:txBody>
      </p:sp>
      <p:sp>
        <p:nvSpPr>
          <p:cNvPr id="15" name="footer"/>
          <p:cNvSpPr/>
          <p:nvPr/>
        </p:nvSpPr>
        <p:spPr bwMode="auto">
          <a:xfrm>
            <a:off x="762000" y="8534400"/>
            <a:ext cx="6350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Нейропаркинг · Коммерческое предложение</a:t>
            </a:r>
            <a:endParaRPr lang="en-US" sz="1400"/>
          </a:p>
        </p:txBody>
      </p:sp>
      <p:sp>
        <p:nvSpPr>
          <p:cNvPr id="16" name="page"/>
          <p:cNvSpPr/>
          <p:nvPr/>
        </p:nvSpPr>
        <p:spPr bwMode="auto">
          <a:xfrm>
            <a:off x="14732000" y="8534400"/>
            <a:ext cx="762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02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 bwMode="auto">
          <a:xfrm>
            <a:off x="762000" y="508000"/>
            <a:ext cx="14732000" cy="9144"/>
          </a:xfrm>
          <a:prstGeom prst="line">
            <a:avLst/>
          </a:prstGeom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itle"/>
          <p:cNvSpPr/>
          <p:nvPr/>
        </p:nvSpPr>
        <p:spPr bwMode="auto">
          <a:xfrm>
            <a:off x="762000" y="965200"/>
            <a:ext cx="9652000" cy="5842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3200">
                <a:solidFill>
                  <a:srgbClr val="0F172A"/>
                </a:solidFill>
                <a:latin typeface="Inter"/>
                <a:ea typeface="Inter"/>
                <a:cs typeface="Inter"/>
              </a:rPr>
              <a:t>Польза для парковки и посетителей</a:t>
            </a:r>
            <a:endParaRPr lang="en-US" sz="3200"/>
          </a:p>
        </p:txBody>
      </p:sp>
      <p:sp>
        <p:nvSpPr>
          <p:cNvPr id="4" name="subtitle"/>
          <p:cNvSpPr/>
          <p:nvPr/>
        </p:nvSpPr>
        <p:spPr bwMode="auto">
          <a:xfrm>
            <a:off x="762000" y="1651000"/>
            <a:ext cx="12446000" cy="3937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</a:rPr>
              <a:t>Решение организует быстрый и понятный путь автомобиля: от въезда до оплаты и безопасного выезда.</a:t>
            </a:r>
            <a:endParaRPr lang="en-US" sz="1800"/>
          </a:p>
        </p:txBody>
      </p:sp>
      <p:sp>
        <p:nvSpPr>
          <p:cNvPr id="5" name="benefit-one-bg"/>
          <p:cNvSpPr/>
          <p:nvPr/>
        </p:nvSpPr>
        <p:spPr bwMode="auto">
          <a:xfrm>
            <a:off x="762000" y="2603500"/>
            <a:ext cx="3175000" cy="3429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benefit-one-icon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92200" y="2946400"/>
            <a:ext cx="457200" cy="457200"/>
          </a:xfrm>
          <a:prstGeom prst="rect">
            <a:avLst/>
          </a:prstGeom>
        </p:spPr>
      </p:pic>
      <p:sp>
        <p:nvSpPr>
          <p:cNvPr id="7" name="benefit-one-title"/>
          <p:cNvSpPr/>
          <p:nvPr/>
        </p:nvSpPr>
        <p:spPr bwMode="auto">
          <a:xfrm>
            <a:off x="1092200" y="3733800"/>
            <a:ext cx="2336800" cy="711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2100">
                <a:solidFill>
                  <a:srgbClr val="0F172A"/>
                </a:solidFill>
                <a:latin typeface="Inter"/>
                <a:ea typeface="Inter"/>
                <a:cs typeface="Inter"/>
              </a:rPr>
              <a:t>Быстрее въезд</a:t>
            </a:r>
            <a:endParaRPr lang="en-US" sz="2100"/>
          </a:p>
        </p:txBody>
      </p:sp>
      <p:sp>
        <p:nvSpPr>
          <p:cNvPr id="8" name="benefit-one-copy"/>
          <p:cNvSpPr/>
          <p:nvPr/>
        </p:nvSpPr>
        <p:spPr bwMode="auto">
          <a:xfrm>
            <a:off x="1092200" y="4699000"/>
            <a:ext cx="2336800" cy="939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475569"/>
                </a:solidFill>
                <a:latin typeface="Inter"/>
                <a:ea typeface="Inter"/>
                <a:cs typeface="Inter"/>
              </a:rPr>
              <a:t>Распознанный ГРЗ позволяет проехать без получения бумажного билета.</a:t>
            </a:r>
            <a:endParaRPr lang="en-US" sz="1600"/>
          </a:p>
        </p:txBody>
      </p:sp>
      <p:sp>
        <p:nvSpPr>
          <p:cNvPr id="9" name="benefit-two-bg"/>
          <p:cNvSpPr/>
          <p:nvPr/>
        </p:nvSpPr>
        <p:spPr bwMode="auto">
          <a:xfrm>
            <a:off x="4445000" y="2603500"/>
            <a:ext cx="3175000" cy="3429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benefit-two-icon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75200" y="2946400"/>
            <a:ext cx="457200" cy="457200"/>
          </a:xfrm>
          <a:prstGeom prst="rect">
            <a:avLst/>
          </a:prstGeom>
        </p:spPr>
      </p:pic>
      <p:sp>
        <p:nvSpPr>
          <p:cNvPr id="11" name="benefit-two-title"/>
          <p:cNvSpPr/>
          <p:nvPr/>
        </p:nvSpPr>
        <p:spPr bwMode="auto">
          <a:xfrm>
            <a:off x="4775200" y="3733800"/>
            <a:ext cx="2336800" cy="711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2100">
                <a:solidFill>
                  <a:srgbClr val="0F172A"/>
                </a:solidFill>
                <a:latin typeface="Inter"/>
                <a:ea typeface="Inter"/>
                <a:cs typeface="Inter"/>
              </a:rPr>
              <a:t>Меньше расходников</a:t>
            </a:r>
            <a:endParaRPr lang="en-US" sz="2100"/>
          </a:p>
        </p:txBody>
      </p:sp>
      <p:sp>
        <p:nvSpPr>
          <p:cNvPr id="12" name="benefit-two-copy"/>
          <p:cNvSpPr/>
          <p:nvPr/>
        </p:nvSpPr>
        <p:spPr bwMode="auto">
          <a:xfrm>
            <a:off x="4775200" y="4699000"/>
            <a:ext cx="2336800" cy="939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475569"/>
                </a:solidFill>
                <a:latin typeface="Inter"/>
                <a:ea typeface="Inter"/>
                <a:cs typeface="Inter"/>
              </a:rPr>
              <a:t>Меньше билетов означает меньше бумаги и меньшую нагрузку на принтер.</a:t>
            </a:r>
            <a:endParaRPr lang="en-US" sz="1600"/>
          </a:p>
        </p:txBody>
      </p:sp>
      <p:sp>
        <p:nvSpPr>
          <p:cNvPr id="13" name="benefit-three-bg"/>
          <p:cNvSpPr/>
          <p:nvPr/>
        </p:nvSpPr>
        <p:spPr bwMode="auto">
          <a:xfrm>
            <a:off x="8128000" y="2603500"/>
            <a:ext cx="3175000" cy="3429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benefit-three-icon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458200" y="2946400"/>
            <a:ext cx="457200" cy="457200"/>
          </a:xfrm>
          <a:prstGeom prst="rect">
            <a:avLst/>
          </a:prstGeom>
        </p:spPr>
      </p:pic>
      <p:sp>
        <p:nvSpPr>
          <p:cNvPr id="15" name="benefit-three-title"/>
          <p:cNvSpPr/>
          <p:nvPr/>
        </p:nvSpPr>
        <p:spPr bwMode="auto">
          <a:xfrm>
            <a:off x="8458200" y="3733800"/>
            <a:ext cx="2336800" cy="711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2100">
                <a:solidFill>
                  <a:srgbClr val="0F172A"/>
                </a:solidFill>
                <a:latin typeface="Inter"/>
                <a:ea typeface="Inter"/>
                <a:cs typeface="Inter"/>
              </a:rPr>
              <a:t>Удобная оплата</a:t>
            </a:r>
            <a:endParaRPr lang="en-US" sz="2100"/>
          </a:p>
        </p:txBody>
      </p:sp>
      <p:sp>
        <p:nvSpPr>
          <p:cNvPr id="16" name="benefit-three-copy"/>
          <p:cNvSpPr/>
          <p:nvPr/>
        </p:nvSpPr>
        <p:spPr bwMode="auto">
          <a:xfrm>
            <a:off x="8458200" y="4699000"/>
            <a:ext cx="2336800" cy="939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475569"/>
                </a:solidFill>
                <a:latin typeface="Inter"/>
                <a:ea typeface="Inter"/>
                <a:cs typeface="Inter"/>
              </a:rPr>
              <a:t>На выезде доступна безналичная оплата, связанная с парковочной сессией.</a:t>
            </a:r>
            <a:endParaRPr lang="en-US" sz="1600"/>
          </a:p>
        </p:txBody>
      </p:sp>
      <p:sp>
        <p:nvSpPr>
          <p:cNvPr id="17" name="benefit-four-bg"/>
          <p:cNvSpPr/>
          <p:nvPr/>
        </p:nvSpPr>
        <p:spPr bwMode="auto">
          <a:xfrm>
            <a:off x="11811000" y="2603500"/>
            <a:ext cx="3683000" cy="3429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benefit-four-icon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2141200" y="2946400"/>
            <a:ext cx="457200" cy="457200"/>
          </a:xfrm>
          <a:prstGeom prst="rect">
            <a:avLst/>
          </a:prstGeom>
        </p:spPr>
      </p:pic>
      <p:sp>
        <p:nvSpPr>
          <p:cNvPr id="19" name="benefit-four-title"/>
          <p:cNvSpPr/>
          <p:nvPr/>
        </p:nvSpPr>
        <p:spPr bwMode="auto">
          <a:xfrm>
            <a:off x="12141200" y="3733800"/>
            <a:ext cx="2717800" cy="7112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2100">
                <a:solidFill>
                  <a:srgbClr val="0F172A"/>
                </a:solidFill>
                <a:latin typeface="Inter"/>
                <a:ea typeface="Inter"/>
                <a:cs typeface="Inter"/>
              </a:rPr>
              <a:t>Контроль проезда</a:t>
            </a:r>
            <a:endParaRPr lang="en-US" sz="2100"/>
          </a:p>
        </p:txBody>
      </p:sp>
      <p:sp>
        <p:nvSpPr>
          <p:cNvPr id="20" name="benefit-four-copy"/>
          <p:cNvSpPr/>
          <p:nvPr/>
        </p:nvSpPr>
        <p:spPr bwMode="auto">
          <a:xfrm>
            <a:off x="12141200" y="4699000"/>
            <a:ext cx="2794000" cy="939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lnSpc>
                <a:spcPts val="2080"/>
              </a:lnSpc>
              <a:buNone/>
              <a:defRPr/>
            </a:pPr>
            <a:r>
              <a:rPr lang="en-US" sz="1600">
                <a:solidFill>
                  <a:srgbClr val="475569"/>
                </a:solidFill>
                <a:latin typeface="Inter"/>
                <a:ea typeface="Inter"/>
                <a:cs typeface="Inter"/>
              </a:rPr>
              <a:t>Система фиксирует каждую сессию и завершает её после выезда автомобиля.</a:t>
            </a:r>
            <a:endParaRPr lang="en-US" sz="1600"/>
          </a:p>
        </p:txBody>
      </p:sp>
      <p:sp>
        <p:nvSpPr>
          <p:cNvPr id="21" name="safety-band"/>
          <p:cNvSpPr/>
          <p:nvPr/>
        </p:nvSpPr>
        <p:spPr bwMode="auto">
          <a:xfrm>
            <a:off x="762000" y="6604000"/>
            <a:ext cx="14732000" cy="1399822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safety-icon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117600" y="6934200"/>
            <a:ext cx="431799" cy="431799"/>
          </a:xfrm>
          <a:prstGeom prst="rect">
            <a:avLst/>
          </a:prstGeom>
        </p:spPr>
      </p:pic>
      <p:sp>
        <p:nvSpPr>
          <p:cNvPr id="23" name="safety-title"/>
          <p:cNvSpPr/>
          <p:nvPr/>
        </p:nvSpPr>
        <p:spPr bwMode="auto">
          <a:xfrm>
            <a:off x="1854200" y="6858000"/>
            <a:ext cx="3238500" cy="3556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900">
                <a:solidFill>
                  <a:srgbClr val="0F172A"/>
                </a:solidFill>
                <a:latin typeface="Inter"/>
                <a:ea typeface="Inter"/>
                <a:cs typeface="Inter"/>
              </a:rPr>
              <a:t>Безопасность проезда</a:t>
            </a:r>
            <a:endParaRPr lang="en-US" sz="1900"/>
          </a:p>
        </p:txBody>
      </p:sp>
      <p:sp>
        <p:nvSpPr>
          <p:cNvPr id="24" name="safety-copy"/>
          <p:cNvSpPr/>
          <p:nvPr/>
        </p:nvSpPr>
        <p:spPr bwMode="auto">
          <a:xfrm>
            <a:off x="1854200" y="7289800"/>
            <a:ext cx="11811000" cy="304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Шлагбаум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островки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безопасности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,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датчик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и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колёсоотбойники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помогают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организовать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предсказуемое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и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безопасное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движение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на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точке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проезда</a:t>
            </a:r>
            <a:r>
              <a:rPr lang="en-US" sz="1600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  <a:endParaRPr lang="en-US" sz="1600" dirty="0"/>
          </a:p>
        </p:txBody>
      </p:sp>
      <p:sp>
        <p:nvSpPr>
          <p:cNvPr id="25" name="footer"/>
          <p:cNvSpPr/>
          <p:nvPr/>
        </p:nvSpPr>
        <p:spPr bwMode="auto">
          <a:xfrm>
            <a:off x="762000" y="8534400"/>
            <a:ext cx="6350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Нейропаркинг · Коммерческое предложение</a:t>
            </a:r>
            <a:endParaRPr lang="en-US" sz="1400"/>
          </a:p>
        </p:txBody>
      </p:sp>
      <p:sp>
        <p:nvSpPr>
          <p:cNvPr id="26" name="page"/>
          <p:cNvSpPr/>
          <p:nvPr/>
        </p:nvSpPr>
        <p:spPr bwMode="auto">
          <a:xfrm>
            <a:off x="14732000" y="8534400"/>
            <a:ext cx="762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03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 bwMode="auto">
          <a:xfrm>
            <a:off x="762000" y="508000"/>
            <a:ext cx="14732000" cy="9144"/>
          </a:xfrm>
          <a:prstGeom prst="line">
            <a:avLst/>
          </a:prstGeom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itle"/>
          <p:cNvSpPr/>
          <p:nvPr/>
        </p:nvSpPr>
        <p:spPr bwMode="auto">
          <a:xfrm>
            <a:off x="762000" y="965200"/>
            <a:ext cx="11684000" cy="533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3000">
                <a:solidFill>
                  <a:srgbClr val="0F172A"/>
                </a:solidFill>
                <a:latin typeface="Inter"/>
                <a:ea typeface="Inter"/>
                <a:cs typeface="Inter"/>
              </a:rPr>
              <a:t>Полная комплектация и стоимость оборудования</a:t>
            </a:r>
            <a:endParaRPr lang="en-US" sz="3000"/>
          </a:p>
        </p:txBody>
      </p:sp>
      <p:sp>
        <p:nvSpPr>
          <p:cNvPr id="4" name="subtitle"/>
          <p:cNvSpPr/>
          <p:nvPr/>
        </p:nvSpPr>
        <p:spPr bwMode="auto">
          <a:xfrm>
            <a:off x="762000" y="1600200"/>
            <a:ext cx="11811000" cy="3048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475569"/>
                </a:solidFill>
                <a:latin typeface="Inter"/>
                <a:ea typeface="Inter"/>
                <a:cs typeface="Inter"/>
              </a:rPr>
              <a:t>Состав сформирован по спецификации заказчика. Все суммы указаны с НДС.</a:t>
            </a:r>
            <a:endParaRPr lang="en-US" sz="1600"/>
          </a:p>
        </p:txBody>
      </p:sp>
      <p:graphicFrame>
        <p:nvGraphicFramePr>
          <p:cNvPr id="5" name="hardware-table"/>
          <p:cNvGraphicFramePr>
            <a:graphicFrameLocks noGrp="1"/>
          </p:cNvGraphicFramePr>
          <p:nvPr/>
        </p:nvGraphicFramePr>
        <p:xfrm>
          <a:off x="762000" y="2108200"/>
          <a:ext cx="14732000" cy="5841997"/>
        </p:xfrm>
        <a:graphic>
          <a:graphicData uri="http://schemas.openxmlformats.org/drawingml/2006/table">
            <a:tbl>
              <a:tblPr/>
              <a:tblGrid>
                <a:gridCol w="824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1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Позиция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0" algn="ctr">
                      <a:noFill/>
                      <a:prstDash val="dashDot"/>
                    </a:lnT>
                    <a:lnB w="25400" algn="ctr">
                      <a:solidFill>
                        <a:srgbClr val="0097A7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Кол.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0" algn="ctr">
                      <a:noFill/>
                      <a:prstDash val="dashDot"/>
                    </a:lnT>
                    <a:lnB w="25400" algn="ctr">
                      <a:solidFill>
                        <a:srgbClr val="0097A7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Цена, ₽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0" algn="ctr">
                      <a:noFill/>
                      <a:prstDash val="dashDot"/>
                    </a:lnT>
                    <a:lnB w="25400" algn="ctr">
                      <a:solidFill>
                        <a:srgbClr val="0097A7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Сумма, ₽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0" algn="ctr">
                      <a:noFill/>
                      <a:prstDash val="dashDot"/>
                    </a:lnT>
                    <a:lnB w="25400" algn="ctr">
                      <a:solidFill>
                        <a:srgbClr val="0097A7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Въездная стойка с 2D-сканером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25400" algn="ctr">
                      <a:solidFill>
                        <a:srgbClr val="0097A7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25400" algn="ctr">
                      <a:solidFill>
                        <a:srgbClr val="0097A7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365 000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25400" algn="ctr">
                      <a:solidFill>
                        <a:srgbClr val="0097A7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365 000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25400" algn="ctr">
                      <a:solidFill>
                        <a:srgbClr val="0097A7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Выездная стойка со сканером и безналичной оплатой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385 000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385 000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Островок безопасности 5 м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95 000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95 000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Островок безопасности 1 м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50 000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50 000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Шлагбаум со стрелой от 3 до 3,5 м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125 000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125 000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Контроллер магнитных петель, двухканальный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ИК-датчик с козырьком и столбиком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17 500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17 500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Камера распознавания ГРЗ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36 500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73 000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Колёсоотбойник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60 000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Сервер АПС с ГРНЗ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160 000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160 000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ПО управления парковкой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100 000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100 000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Лицензия распознавания ГРНЗ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50 000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Лицензия проезда по номеру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Лицензия голосовой связи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30 000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Модуль безналичной оплаты на выезде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25 000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339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Итого оборудование и ПО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0" algn="ctr">
                      <a:noFill/>
                      <a:prstDash val="dashDot"/>
                    </a:lnB>
                    <a:solidFill>
                      <a:srgbClr val="E7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0" algn="ctr">
                      <a:noFill/>
                      <a:prstDash val="dashDot"/>
                    </a:lnB>
                    <a:solidFill>
                      <a:srgbClr val="E7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0" algn="ctr">
                      <a:noFill/>
                      <a:prstDash val="dashDot"/>
                    </a:lnB>
                    <a:solidFill>
                      <a:srgbClr val="E7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1 595 500</a:t>
                      </a:r>
                      <a:endParaRPr lang="en-US" sz="12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14300" marR="114300" marT="63500" marB="635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0" algn="ctr">
                      <a:noFill/>
                      <a:prstDash val="dashDot"/>
                    </a:lnB>
                    <a:solidFill>
                      <a:srgbClr val="E7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footer"/>
          <p:cNvSpPr/>
          <p:nvPr/>
        </p:nvSpPr>
        <p:spPr bwMode="auto">
          <a:xfrm>
            <a:off x="762000" y="8534400"/>
            <a:ext cx="6350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Нейропаркинг · Коммерческое предложение</a:t>
            </a:r>
            <a:endParaRPr lang="en-US" sz="1400"/>
          </a:p>
        </p:txBody>
      </p:sp>
      <p:sp>
        <p:nvSpPr>
          <p:cNvPr id="7" name="page"/>
          <p:cNvSpPr/>
          <p:nvPr/>
        </p:nvSpPr>
        <p:spPr bwMode="auto">
          <a:xfrm>
            <a:off x="14732000" y="8534400"/>
            <a:ext cx="762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04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 bwMode="auto">
          <a:xfrm>
            <a:off x="762000" y="508000"/>
            <a:ext cx="14732000" cy="9144"/>
          </a:xfrm>
          <a:prstGeom prst="line">
            <a:avLst/>
          </a:prstGeom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itle"/>
          <p:cNvSpPr/>
          <p:nvPr/>
        </p:nvSpPr>
        <p:spPr bwMode="auto">
          <a:xfrm>
            <a:off x="762000" y="965200"/>
            <a:ext cx="9398000" cy="5842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3200">
                <a:solidFill>
                  <a:srgbClr val="0F172A"/>
                </a:solidFill>
                <a:latin typeface="Inter"/>
                <a:ea typeface="Inter"/>
                <a:cs typeface="Inter"/>
              </a:rPr>
              <a:t>Стоимость и условия проекта</a:t>
            </a:r>
            <a:endParaRPr lang="en-US" sz="3200"/>
          </a:p>
        </p:txBody>
      </p:sp>
      <p:sp>
        <p:nvSpPr>
          <p:cNvPr id="4" name="subtitle"/>
          <p:cNvSpPr/>
          <p:nvPr/>
        </p:nvSpPr>
        <p:spPr bwMode="auto">
          <a:xfrm>
            <a:off x="762000" y="1651000"/>
            <a:ext cx="11684000" cy="3556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</a:rPr>
              <a:t>Поставка </a:t>
            </a:r>
            <a:r>
              <a:rPr lang="en-US" sz="1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DDP Екатеринбург</a:t>
            </a:r>
            <a:r>
              <a:rPr lang="en-US" sz="1800">
                <a:solidFill>
                  <a:srgbClr val="475569"/>
                </a:solidFill>
                <a:latin typeface="Inter"/>
                <a:ea typeface="Inter"/>
                <a:cs typeface="Inter"/>
              </a:rPr>
              <a:t>, доставка включена в стоимость проекта.</a:t>
            </a:r>
            <a:endParaRPr lang="en-US" sz="1800"/>
          </a:p>
        </p:txBody>
      </p:sp>
      <p:graphicFrame>
        <p:nvGraphicFramePr>
          <p:cNvPr id="6" name="budget-table"/>
          <p:cNvGraphicFramePr>
            <a:graphicFrameLocks noGrp="1"/>
          </p:cNvGraphicFramePr>
          <p:nvPr/>
        </p:nvGraphicFramePr>
        <p:xfrm>
          <a:off x="762000" y="2794000"/>
          <a:ext cx="8128000" cy="2286000"/>
        </p:xfrm>
        <a:graphic>
          <a:graphicData uri="http://schemas.openxmlformats.org/drawingml/2006/table">
            <a:tbl>
              <a:tblPr/>
              <a:tblGrid>
                <a:gridCol w="56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Блок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0" algn="ctr">
                      <a:noFill/>
                      <a:prstDash val="dashDot"/>
                    </a:lnT>
                    <a:lnB w="25400" algn="ctr">
                      <a:solidFill>
                        <a:srgbClr val="0097A7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Сумма, ₽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0" algn="ctr">
                      <a:noFill/>
                      <a:prstDash val="dashDot"/>
                    </a:lnT>
                    <a:lnB w="25400" algn="ctr">
                      <a:solidFill>
                        <a:srgbClr val="0097A7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Оборудование и ПО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25400" algn="ctr">
                      <a:solidFill>
                        <a:srgbClr val="0097A7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1 595 500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25400" algn="ctr">
                      <a:solidFill>
                        <a:srgbClr val="0097A7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СМР и ПНР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500 000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12700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Итого с НДС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0" algn="ctr">
                      <a:noFill/>
                      <a:prstDash val="dashDot"/>
                    </a:lnL>
                    <a:lnR w="12700" algn="ctr">
                      <a:solidFill>
                        <a:srgbClr val="E2E8F0"/>
                      </a:solidFill>
                      <a:prstDash val="solid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0" algn="ctr">
                      <a:noFill/>
                      <a:prstDash val="dashDot"/>
                    </a:lnB>
                    <a:solidFill>
                      <a:srgbClr val="E7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2 095 500</a:t>
                      </a:r>
                      <a:endParaRPr lang="en-US" sz="180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177800" marR="177800" marT="127000" marB="127000" anchor="ctr">
                    <a:lnL w="12700" algn="ctr">
                      <a:solidFill>
                        <a:srgbClr val="E2E8F0"/>
                      </a:solidFill>
                      <a:prstDash val="solid"/>
                    </a:lnL>
                    <a:lnR w="0" algn="ctr">
                      <a:noFill/>
                      <a:prstDash val="dashDot"/>
                    </a:lnR>
                    <a:lnT w="12700" algn="ctr">
                      <a:solidFill>
                        <a:srgbClr val="E2E8F0"/>
                      </a:solidFill>
                      <a:prstDash val="solid"/>
                    </a:lnT>
                    <a:lnB w="0" algn="ctr">
                      <a:noFill/>
                      <a:prstDash val="dashDot"/>
                    </a:lnB>
                    <a:solidFill>
                      <a:srgbClr val="E7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otal-panel"/>
          <p:cNvSpPr/>
          <p:nvPr/>
        </p:nvSpPr>
        <p:spPr bwMode="auto">
          <a:xfrm>
            <a:off x="10033000" y="2603500"/>
            <a:ext cx="5461000" cy="279400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otal-overline"/>
          <p:cNvSpPr/>
          <p:nvPr/>
        </p:nvSpPr>
        <p:spPr bwMode="auto">
          <a:xfrm>
            <a:off x="10515600" y="3098800"/>
            <a:ext cx="4064000" cy="3048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СТОИМОСТЬ ПРОЕКТА</a:t>
            </a:r>
            <a:endParaRPr lang="en-US" sz="1500"/>
          </a:p>
        </p:txBody>
      </p:sp>
      <p:sp>
        <p:nvSpPr>
          <p:cNvPr id="8" name="total-number"/>
          <p:cNvSpPr/>
          <p:nvPr/>
        </p:nvSpPr>
        <p:spPr bwMode="auto">
          <a:xfrm>
            <a:off x="10515600" y="3670300"/>
            <a:ext cx="4445000" cy="787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4900">
                <a:solidFill>
                  <a:srgbClr val="FFFFFF"/>
                </a:solidFill>
                <a:latin typeface="Inter"/>
                <a:ea typeface="Inter"/>
                <a:cs typeface="Inter"/>
              </a:rPr>
              <a:t>2 095 500 ₽</a:t>
            </a:r>
            <a:endParaRPr lang="en-US" sz="4900"/>
          </a:p>
        </p:txBody>
      </p:sp>
      <p:sp>
        <p:nvSpPr>
          <p:cNvPr id="9" name="total-vat"/>
          <p:cNvSpPr/>
          <p:nvPr/>
        </p:nvSpPr>
        <p:spPr bwMode="auto">
          <a:xfrm>
            <a:off x="10515600" y="4610100"/>
            <a:ext cx="3556000" cy="3302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включая НДС</a:t>
            </a:r>
            <a:endParaRPr lang="en-US" sz="1800"/>
          </a:p>
        </p:txBody>
      </p:sp>
      <p:sp>
        <p:nvSpPr>
          <p:cNvPr id="10" name="terms-panel"/>
          <p:cNvSpPr/>
          <p:nvPr/>
        </p:nvSpPr>
        <p:spPr bwMode="auto">
          <a:xfrm>
            <a:off x="762000" y="5867399"/>
            <a:ext cx="8509000" cy="1600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design-icon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92200" y="6210300"/>
            <a:ext cx="355600" cy="355600"/>
          </a:xfrm>
          <a:prstGeom prst="rect">
            <a:avLst/>
          </a:prstGeom>
        </p:spPr>
      </p:pic>
      <p:sp>
        <p:nvSpPr>
          <p:cNvPr id="12" name="design-label"/>
          <p:cNvSpPr/>
          <p:nvPr/>
        </p:nvSpPr>
        <p:spPr bwMode="auto">
          <a:xfrm>
            <a:off x="1600200" y="6096000"/>
            <a:ext cx="20828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</a:rPr>
              <a:t>ПРОЕКТИРОВАНИЕ</a:t>
            </a:r>
            <a:endParaRPr lang="en-US" sz="1300"/>
          </a:p>
        </p:txBody>
      </p:sp>
      <p:sp>
        <p:nvSpPr>
          <p:cNvPr id="13" name="design-value"/>
          <p:cNvSpPr/>
          <p:nvPr/>
        </p:nvSpPr>
        <p:spPr bwMode="auto">
          <a:xfrm>
            <a:off x="1600200" y="6477000"/>
            <a:ext cx="2082800" cy="3302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0F172A"/>
                </a:solidFill>
                <a:latin typeface="Inter"/>
                <a:ea typeface="Inter"/>
                <a:cs typeface="Inter"/>
              </a:rPr>
              <a:t>Бесплатно</a:t>
            </a:r>
            <a:endParaRPr lang="en-US" sz="1800"/>
          </a:p>
        </p:txBody>
      </p:sp>
      <p:sp>
        <p:nvSpPr>
          <p:cNvPr id="14" name="terms-divider-one"/>
          <p:cNvSpPr/>
          <p:nvPr/>
        </p:nvSpPr>
        <p:spPr bwMode="auto">
          <a:xfrm>
            <a:off x="3937000" y="6121400"/>
            <a:ext cx="9144" cy="101600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warranty-icon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41800" y="6210300"/>
            <a:ext cx="355600" cy="355600"/>
          </a:xfrm>
          <a:prstGeom prst="rect">
            <a:avLst/>
          </a:prstGeom>
        </p:spPr>
      </p:pic>
      <p:sp>
        <p:nvSpPr>
          <p:cNvPr id="16" name="warranty-label"/>
          <p:cNvSpPr/>
          <p:nvPr/>
        </p:nvSpPr>
        <p:spPr bwMode="auto">
          <a:xfrm>
            <a:off x="4749800" y="6096000"/>
            <a:ext cx="2032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</a:rPr>
              <a:t>ГАРАНТИЯ</a:t>
            </a:r>
            <a:endParaRPr lang="en-US" sz="1300"/>
          </a:p>
        </p:txBody>
      </p:sp>
      <p:sp>
        <p:nvSpPr>
          <p:cNvPr id="17" name="warranty-value"/>
          <p:cNvSpPr/>
          <p:nvPr/>
        </p:nvSpPr>
        <p:spPr bwMode="auto">
          <a:xfrm>
            <a:off x="4749800" y="6477000"/>
            <a:ext cx="2032000" cy="3302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0F172A"/>
                </a:solidFill>
                <a:latin typeface="Inter"/>
                <a:ea typeface="Inter"/>
                <a:cs typeface="Inter"/>
              </a:rPr>
              <a:t>12 месяцев</a:t>
            </a:r>
            <a:endParaRPr lang="en-US" sz="1800"/>
          </a:p>
        </p:txBody>
      </p:sp>
      <p:sp>
        <p:nvSpPr>
          <p:cNvPr id="18" name="terms-divider-two"/>
          <p:cNvSpPr/>
          <p:nvPr/>
        </p:nvSpPr>
        <p:spPr bwMode="auto">
          <a:xfrm>
            <a:off x="7010399" y="6121400"/>
            <a:ext cx="9144" cy="101600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delivery-icon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315200" y="6210300"/>
            <a:ext cx="355600" cy="355600"/>
          </a:xfrm>
          <a:prstGeom prst="rect">
            <a:avLst/>
          </a:prstGeom>
        </p:spPr>
      </p:pic>
      <p:sp>
        <p:nvSpPr>
          <p:cNvPr id="20" name="delivery-label"/>
          <p:cNvSpPr/>
          <p:nvPr/>
        </p:nvSpPr>
        <p:spPr bwMode="auto">
          <a:xfrm>
            <a:off x="7823200" y="6096000"/>
            <a:ext cx="12192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</a:rPr>
              <a:t>ПОСТАВКА</a:t>
            </a:r>
            <a:endParaRPr lang="en-US" sz="1300"/>
          </a:p>
        </p:txBody>
      </p:sp>
      <p:sp>
        <p:nvSpPr>
          <p:cNvPr id="21" name="delivery-value"/>
          <p:cNvSpPr/>
          <p:nvPr/>
        </p:nvSpPr>
        <p:spPr bwMode="auto">
          <a:xfrm>
            <a:off x="7315200" y="6553200"/>
            <a:ext cx="1524000" cy="571500"/>
          </a:xfrm>
          <a:prstGeom prst="rect">
            <a:avLst/>
          </a:prstGeom>
          <a:noFill/>
          <a:ln/>
        </p:spPr>
        <p:txBody>
          <a:bodyPr wrap="square" lIns="36000" tIns="36000" rIns="36000" bIns="36000" rtlCol="0" anchor="t"/>
          <a:lstStyle/>
          <a:p>
            <a:pPr marL="0" indent="0" algn="ctr">
              <a:lnSpc>
                <a:spcPts val="1785"/>
              </a:lnSpc>
              <a:buNone/>
              <a:defRPr/>
            </a:pPr>
            <a:r>
              <a:rPr lang="en-US" sz="1700">
                <a:solidFill>
                  <a:srgbClr val="0F172A"/>
                </a:solidFill>
                <a:latin typeface="Inter"/>
                <a:ea typeface="Inter"/>
                <a:cs typeface="Inter"/>
              </a:rPr>
              <a:t>DDP</a:t>
            </a:r>
            <a:endParaRPr lang="en-US" sz="1700"/>
          </a:p>
          <a:p>
            <a:pPr marL="0" indent="0" algn="ctr">
              <a:lnSpc>
                <a:spcPts val="1785"/>
              </a:lnSpc>
              <a:buNone/>
              <a:defRPr/>
            </a:pPr>
            <a:r>
              <a:rPr lang="en-US" sz="1700">
                <a:solidFill>
                  <a:srgbClr val="0F172A"/>
                </a:solidFill>
                <a:latin typeface="Inter"/>
                <a:ea typeface="Inter"/>
                <a:cs typeface="Inter"/>
              </a:rPr>
              <a:t>Екатеринбург</a:t>
            </a:r>
            <a:endParaRPr lang="en-US" sz="1700"/>
          </a:p>
        </p:txBody>
      </p:sp>
      <p:sp>
        <p:nvSpPr>
          <p:cNvPr id="22" name="contact-panel"/>
          <p:cNvSpPr/>
          <p:nvPr/>
        </p:nvSpPr>
        <p:spPr bwMode="auto">
          <a:xfrm>
            <a:off x="9652000" y="5867399"/>
            <a:ext cx="5842000" cy="160020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contact-icon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033000" y="6197600"/>
            <a:ext cx="355600" cy="355600"/>
          </a:xfrm>
          <a:prstGeom prst="rect">
            <a:avLst/>
          </a:prstGeom>
        </p:spPr>
      </p:pic>
      <p:sp>
        <p:nvSpPr>
          <p:cNvPr id="24" name="contact-label"/>
          <p:cNvSpPr/>
          <p:nvPr/>
        </p:nvSpPr>
        <p:spPr bwMode="auto">
          <a:xfrm>
            <a:off x="10617200" y="6070600"/>
            <a:ext cx="4064000" cy="2540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</a:rPr>
              <a:t>КОНТАКТЫ ПО ПРОЕКТУ</a:t>
            </a:r>
            <a:endParaRPr lang="en-US" sz="1300"/>
          </a:p>
        </p:txBody>
      </p:sp>
      <p:sp>
        <p:nvSpPr>
          <p:cNvPr id="25" name="contact-name"/>
          <p:cNvSpPr/>
          <p:nvPr/>
        </p:nvSpPr>
        <p:spPr bwMode="auto">
          <a:xfrm>
            <a:off x="10617200" y="6388100"/>
            <a:ext cx="4064000" cy="3048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0F172A"/>
                </a:solidFill>
                <a:latin typeface="Inter"/>
                <a:ea typeface="Inter"/>
                <a:cs typeface="Inter"/>
              </a:rPr>
              <a:t>Николай Катрич</a:t>
            </a:r>
            <a:endParaRPr lang="en-US" sz="1800"/>
          </a:p>
        </p:txBody>
      </p:sp>
      <p:sp>
        <p:nvSpPr>
          <p:cNvPr id="26" name="contact-company"/>
          <p:cNvSpPr/>
          <p:nvPr/>
        </p:nvSpPr>
        <p:spPr bwMode="auto">
          <a:xfrm>
            <a:off x="10617200" y="6731000"/>
            <a:ext cx="4064000" cy="2286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</a:rPr>
              <a:t>ООО «Новые Технологии»</a:t>
            </a:r>
            <a:endParaRPr lang="en-US" sz="1300"/>
          </a:p>
        </p:txBody>
      </p:sp>
      <p:sp>
        <p:nvSpPr>
          <p:cNvPr id="27" name="contact-details"/>
          <p:cNvSpPr/>
          <p:nvPr/>
        </p:nvSpPr>
        <p:spPr bwMode="auto">
          <a:xfrm>
            <a:off x="10617200" y="7035800"/>
            <a:ext cx="4318000" cy="2286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0F172A"/>
                </a:solidFill>
                <a:latin typeface="Inter"/>
                <a:ea typeface="Inter"/>
                <a:cs typeface="Inter"/>
              </a:rPr>
              <a:t>+7 906 271-84-67 · nvk@novoe.tech</a:t>
            </a:r>
            <a:endParaRPr lang="en-US" sz="1300"/>
          </a:p>
        </p:txBody>
      </p:sp>
      <p:sp>
        <p:nvSpPr>
          <p:cNvPr id="28" name="footer"/>
          <p:cNvSpPr/>
          <p:nvPr/>
        </p:nvSpPr>
        <p:spPr bwMode="auto">
          <a:xfrm>
            <a:off x="762000" y="8534400"/>
            <a:ext cx="6350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Нейропаркинг · Коммерческое предложение</a:t>
            </a:r>
            <a:endParaRPr lang="en-US" sz="1400"/>
          </a:p>
        </p:txBody>
      </p:sp>
      <p:sp>
        <p:nvSpPr>
          <p:cNvPr id="29" name="page"/>
          <p:cNvSpPr/>
          <p:nvPr/>
        </p:nvSpPr>
        <p:spPr bwMode="auto">
          <a:xfrm>
            <a:off x="14732000" y="8534400"/>
            <a:ext cx="762000" cy="279400"/>
          </a:xfrm>
          <a:prstGeom prst="rect">
            <a:avLst/>
          </a:prstGeom>
          <a:noFill/>
          <a:ln/>
        </p:spPr>
        <p:txBody>
          <a:bodyPr wrap="none" lIns="36000" tIns="36000" rIns="36000" bIns="36000" rtlCol="0" anchor="t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</a:rPr>
              <a:t>05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593</Words>
  <Application>Microsoft Office PowerPoint</Application>
  <DocSecurity>0</DocSecurity>
  <PresentationFormat>Произвольный</PresentationFormat>
  <Paragraphs>131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>Manus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Автоматизированная парковочная система — Корпорация Маяк</dc:title>
  <dc:subject>Автоматизированная парковочная система — Корпорация Маяк</dc:subject>
  <dc:creator>Manus</dc:creator>
  <cp:keywords/>
  <dc:description/>
  <cp:lastModifiedBy>Николай Катрич</cp:lastModifiedBy>
  <cp:revision>3</cp:revision>
  <dcterms:created xsi:type="dcterms:W3CDTF">2026-08-27T10:54:28Z</dcterms:created>
  <dcterms:modified xsi:type="dcterms:W3CDTF">2026-08-27T11:25:35Z</dcterms:modified>
  <cp:category/>
  <dc:identifier/>
  <cp:contentStatus/>
  <dc:language/>
  <cp:version/>
</cp:coreProperties>
</file>